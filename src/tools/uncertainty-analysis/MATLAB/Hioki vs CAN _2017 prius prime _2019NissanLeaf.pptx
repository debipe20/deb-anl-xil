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9" r:id="rId18"/>
    <p:sldId id="288" r:id="rId19"/>
    <p:sldId id="259" r:id="rId20"/>
    <p:sldId id="291" r:id="rId21"/>
    <p:sldId id="292" r:id="rId22"/>
    <p:sldId id="293" r:id="rId23"/>
    <p:sldId id="294" r:id="rId24"/>
    <p:sldId id="295" r:id="rId25"/>
    <p:sldId id="29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7A682-60CB-1B01-EF8D-2C926BFA0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D88E71-2D61-3E6C-EE6A-9E07EFA9D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027A6-5F4B-6A15-7624-60C77DA3C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7B3F-F43D-4D23-BEFB-7AFD755C9491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F4741-1D13-3BFC-8B77-9EA2CE55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CE989-FBA0-90E1-DE6B-5A9ED3FC6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4DDA9-5D02-4192-9AD5-8D2ABDC2A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872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F5602-6419-62DA-E93E-A6C03E8E5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1CFE3-B849-976C-5B71-3615DBFE8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6662B-EED2-40B9-8877-57C3E561E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7B3F-F43D-4D23-BEFB-7AFD755C9491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29CFC-18A1-93AE-0C85-C495930D8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84C5E-E374-9F6E-27DD-6571807BB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4DDA9-5D02-4192-9AD5-8D2ABDC2A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95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78123-7E5E-9DEF-7761-56C051BA2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7B46-A1F2-97B8-8BEF-00A282CEF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FD57F-42F4-72BD-4A1F-916EE1194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7B3F-F43D-4D23-BEFB-7AFD755C9491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B64B8-354F-E06D-8487-0E0DFC9C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22297-AE16-C0F7-3F0C-203690457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4DDA9-5D02-4192-9AD5-8D2ABDC2A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629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F87BA-9A7F-9E4C-506F-772B8FEC5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69D19-022D-0FD8-4769-BB06724CCD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59E5DA-D1C3-BBCB-6308-3B05A0265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898E1-15D7-B2EC-01B1-D88684928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7B3F-F43D-4D23-BEFB-7AFD755C9491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83830-7D4E-F364-105D-A3449AAC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0C377-EA78-95BD-A997-136C78B0B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4DDA9-5D02-4192-9AD5-8D2ABDC2A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33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0A611-5FC1-8E04-71E5-89518F7E2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06808-F779-4BFE-882C-F30A5A458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B4139-8DFD-3E73-051A-C6A910407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F8B6E-91F4-F4F9-24E9-ACAE628F5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13870C-6F1C-BA98-B497-9F872361D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9452F0-1A6F-C866-2EEA-0E725BA85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7B3F-F43D-4D23-BEFB-7AFD755C9491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E2DCE8-B992-60D3-938E-573D7B7F5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2027F2-F1AA-957D-242D-D6AE7B3B0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4DDA9-5D02-4192-9AD5-8D2ABDC2A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35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EE70D-8DBE-E637-D1F7-900CE85F0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57F51-BB39-5A42-CE02-61E1C5D4B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7B3F-F43D-4D23-BEFB-7AFD755C9491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166CE5-2193-3F80-BC12-1F968DF66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F2E9B2-1BAD-2788-02C6-2D81E921C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4DDA9-5D02-4192-9AD5-8D2ABDC2A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27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5D3C6E-9CAB-E60F-0BA5-2E9E8D9D7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7B3F-F43D-4D23-BEFB-7AFD755C9491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19107C-7C38-B207-66B5-8FDF194D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3C9EA-576F-E216-B78A-629C61F7E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4DDA9-5D02-4192-9AD5-8D2ABDC2A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406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8B014-FDE5-7983-AA40-6D054D85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63A80-1F90-208D-6B99-9E3D47443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4F7DA0-A99D-ECA7-F558-F152E16AD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9665F-1B20-8DFB-6798-B36B2C1E4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7B3F-F43D-4D23-BEFB-7AFD755C9491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8CCF6-6ED0-273E-C8EA-BCA10EFF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F1776-3571-B82A-1D27-E0D757CF9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4DDA9-5D02-4192-9AD5-8D2ABDC2A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94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C5C3D-E702-233E-2E01-004F06F7A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15A7C-0BC8-68FD-D7DC-E511B7C6A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6984B-E099-0337-86B8-1C81CE1AB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934EC-18A7-8555-0FC6-DD6A1DBD0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7B3F-F43D-4D23-BEFB-7AFD755C9491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2BC18-2895-5A6F-52C0-CD98265FF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8D146-2048-7B5B-284B-D3E1339DE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4DDA9-5D02-4192-9AD5-8D2ABDC2A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7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8B41-A98B-5774-6134-9F6E1BA8F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315E8-11DD-3039-9A4B-33D34166B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93D50-2F48-EC82-49FD-E32A04212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7B3F-F43D-4D23-BEFB-7AFD755C9491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D2120-60A1-F333-BB67-3C5B00DA2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74052-09B9-8480-7E36-C0C317BC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4DDA9-5D02-4192-9AD5-8D2ABDC2A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63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4DE2BB-DD00-CD0F-424C-945358B461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60B43-8A10-791A-8C6B-C8B659922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17C55-0B7F-24A0-B328-8DA07863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7B3F-F43D-4D23-BEFB-7AFD755C9491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19F01-E611-4028-D8BC-EB01D2B26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B5B24-8162-822F-988D-06FA05109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4DDA9-5D02-4192-9AD5-8D2ABDC2A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36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0F91DA-155F-EA03-1999-A2DEC7554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1E266-F9BE-BD98-14C2-662FBB47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796C2-6AEA-A441-1B40-23EABDD7F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27B3F-F43D-4D23-BEFB-7AFD755C9491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9CDCB-B044-925C-61ED-FD5734DB0A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ECB9C-83C4-17B4-14DA-F0220FCC78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34DDA9-5D02-4192-9AD5-8D2ABDC2A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1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90B0E-4B0A-809C-9F14-33B4173CAD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Hioki</a:t>
            </a:r>
            <a:r>
              <a:rPr lang="en-US" dirty="0"/>
              <a:t> vs CAN for 2017 </a:t>
            </a:r>
            <a:r>
              <a:rPr lang="en-US" dirty="0" err="1"/>
              <a:t>prius</a:t>
            </a:r>
            <a:r>
              <a:rPr lang="en-US" dirty="0"/>
              <a:t> prime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CFE882-4715-A7D2-D756-96D9719A3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6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336A9-18FF-67D4-F007-7D3EDDE86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982"/>
            <a:ext cx="12192000" cy="67610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CDA Dataset checked for 2017 </a:t>
            </a:r>
            <a:r>
              <a:rPr lang="en-US" dirty="0" err="1"/>
              <a:t>prius</a:t>
            </a:r>
            <a:r>
              <a:rPr lang="en-US" dirty="0"/>
              <a:t> prime:</a:t>
            </a:r>
          </a:p>
          <a:p>
            <a:r>
              <a:rPr lang="en-US" dirty="0"/>
              <a:t>72403002-15  UDDS</a:t>
            </a:r>
          </a:p>
          <a:p>
            <a:r>
              <a:rPr lang="en-US" dirty="0"/>
              <a:t>72403017-26  US06</a:t>
            </a:r>
          </a:p>
          <a:p>
            <a:r>
              <a:rPr lang="en-US" dirty="0"/>
              <a:t>72403027-38  HWFET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Plot the linear fitting between</a:t>
            </a:r>
          </a:p>
          <a:p>
            <a:pPr marL="0" indent="0">
              <a:buNone/>
            </a:pPr>
            <a:r>
              <a:rPr lang="en-US" dirty="0"/>
              <a:t>CAN voltage  vs </a:t>
            </a:r>
            <a:r>
              <a:rPr lang="en-US" dirty="0" err="1"/>
              <a:t>Hioki</a:t>
            </a:r>
            <a:r>
              <a:rPr lang="en-US" dirty="0"/>
              <a:t> voltage</a:t>
            </a:r>
          </a:p>
          <a:p>
            <a:pPr marL="0" indent="0">
              <a:buNone/>
            </a:pPr>
            <a:r>
              <a:rPr lang="en-US" dirty="0"/>
              <a:t>CAN current vs </a:t>
            </a:r>
            <a:r>
              <a:rPr lang="en-US" dirty="0" err="1"/>
              <a:t>Hioki</a:t>
            </a:r>
            <a:r>
              <a:rPr lang="en-US" dirty="0"/>
              <a:t> current </a:t>
            </a:r>
          </a:p>
          <a:p>
            <a:pPr marL="0" indent="0">
              <a:buNone/>
            </a:pPr>
            <a:r>
              <a:rPr lang="en-US" dirty="0"/>
              <a:t>CAN active power  vs </a:t>
            </a:r>
            <a:r>
              <a:rPr lang="en-US" dirty="0" err="1"/>
              <a:t>Hioki</a:t>
            </a:r>
            <a:r>
              <a:rPr lang="en-US" dirty="0"/>
              <a:t> active power </a:t>
            </a:r>
          </a:p>
          <a:p>
            <a:pPr marL="0" indent="0">
              <a:buNone/>
            </a:pPr>
            <a:r>
              <a:rPr lang="en-US" dirty="0"/>
              <a:t>CAN integrated power  vs </a:t>
            </a:r>
            <a:r>
              <a:rPr lang="en-US" dirty="0" err="1"/>
              <a:t>Hioki</a:t>
            </a:r>
            <a:r>
              <a:rPr lang="en-US" dirty="0"/>
              <a:t> integrated power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916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voltage&#10;&#10;Description automatically generated with medium confidence">
            <a:extLst>
              <a:ext uri="{FF2B5EF4-FFF2-40B4-BE49-F238E27FC236}">
                <a16:creationId xmlns:a16="http://schemas.microsoft.com/office/drawing/2014/main" id="{FC4CD569-CEA6-2CAC-AABD-B294BB72EC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6571"/>
            <a:ext cx="6400000" cy="6171429"/>
          </a:xfrm>
          <a:prstGeom prst="rect">
            <a:avLst/>
          </a:prstGeom>
        </p:spPr>
      </p:pic>
      <p:pic>
        <p:nvPicPr>
          <p:cNvPr id="7" name="Picture 6" descr="A collage of graphs&#10;&#10;Description automatically generated">
            <a:extLst>
              <a:ext uri="{FF2B5EF4-FFF2-40B4-BE49-F238E27FC236}">
                <a16:creationId xmlns:a16="http://schemas.microsoft.com/office/drawing/2014/main" id="{3C3EE728-211F-8CBA-95B0-B143F4DA0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000" y="686570"/>
            <a:ext cx="6400000" cy="6171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2CFEB9-EF6B-088D-742B-381CDE46DBD4}"/>
              </a:ext>
            </a:extLst>
          </p:cNvPr>
          <p:cNvSpPr txBox="1"/>
          <p:nvPr/>
        </p:nvSpPr>
        <p:spPr>
          <a:xfrm>
            <a:off x="2613942" y="501904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EA6A4-23EB-6A08-3F86-0A8463158D4B}"/>
              </a:ext>
            </a:extLst>
          </p:cNvPr>
          <p:cNvSpPr txBox="1"/>
          <p:nvPr/>
        </p:nvSpPr>
        <p:spPr>
          <a:xfrm>
            <a:off x="8017502" y="501903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72403005</a:t>
            </a:r>
          </a:p>
        </p:txBody>
      </p:sp>
    </p:spTree>
    <p:extLst>
      <p:ext uri="{BB962C8B-B14F-4D97-AF65-F5344CB8AC3E}">
        <p14:creationId xmlns:p14="http://schemas.microsoft.com/office/powerpoint/2010/main" val="346570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lage of graphs&#10;&#10;Description automatically generated">
            <a:extLst>
              <a:ext uri="{FF2B5EF4-FFF2-40B4-BE49-F238E27FC236}">
                <a16:creationId xmlns:a16="http://schemas.microsoft.com/office/drawing/2014/main" id="{F66BC475-0D3E-C34B-7E5B-11D62A1C61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6568"/>
            <a:ext cx="6400000" cy="6171429"/>
          </a:xfrm>
          <a:prstGeom prst="rect">
            <a:avLst/>
          </a:prstGeom>
        </p:spPr>
      </p:pic>
      <p:pic>
        <p:nvPicPr>
          <p:cNvPr id="6" name="Picture 5" descr="A collage of graphs&#10;&#10;Description automatically generated">
            <a:extLst>
              <a:ext uri="{FF2B5EF4-FFF2-40B4-BE49-F238E27FC236}">
                <a16:creationId xmlns:a16="http://schemas.microsoft.com/office/drawing/2014/main" id="{63546314-FBA0-91D5-9463-E5BDA1AA9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999" y="686569"/>
            <a:ext cx="6400000" cy="6171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2CFEB9-EF6B-088D-742B-381CDE46DBD4}"/>
              </a:ext>
            </a:extLst>
          </p:cNvPr>
          <p:cNvSpPr txBox="1"/>
          <p:nvPr/>
        </p:nvSpPr>
        <p:spPr>
          <a:xfrm>
            <a:off x="2613942" y="501904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72403006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EA6A4-23EB-6A08-3F86-0A8463158D4B}"/>
              </a:ext>
            </a:extLst>
          </p:cNvPr>
          <p:cNvSpPr txBox="1"/>
          <p:nvPr/>
        </p:nvSpPr>
        <p:spPr>
          <a:xfrm>
            <a:off x="8017502" y="501903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72403007</a:t>
            </a:r>
          </a:p>
        </p:txBody>
      </p:sp>
    </p:spTree>
    <p:extLst>
      <p:ext uri="{BB962C8B-B14F-4D97-AF65-F5344CB8AC3E}">
        <p14:creationId xmlns:p14="http://schemas.microsoft.com/office/powerpoint/2010/main" val="1396476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lage of graphs&#10;&#10;Description automatically generated">
            <a:extLst>
              <a:ext uri="{FF2B5EF4-FFF2-40B4-BE49-F238E27FC236}">
                <a16:creationId xmlns:a16="http://schemas.microsoft.com/office/drawing/2014/main" id="{A3BF54FF-02D7-4A01-A024-41B0EDCAD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6571"/>
            <a:ext cx="6400000" cy="6171429"/>
          </a:xfrm>
          <a:prstGeom prst="rect">
            <a:avLst/>
          </a:prstGeom>
        </p:spPr>
      </p:pic>
      <p:pic>
        <p:nvPicPr>
          <p:cNvPr id="7" name="Picture 6" descr="A group of graphs showing different types of voltage&#10;&#10;Description automatically generated with medium confidence">
            <a:extLst>
              <a:ext uri="{FF2B5EF4-FFF2-40B4-BE49-F238E27FC236}">
                <a16:creationId xmlns:a16="http://schemas.microsoft.com/office/drawing/2014/main" id="{F47C6C10-2EC6-CD3E-0A12-144FA5A108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999" y="686569"/>
            <a:ext cx="6400000" cy="6171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2CFEB9-EF6B-088D-742B-381CDE46DBD4}"/>
              </a:ext>
            </a:extLst>
          </p:cNvPr>
          <p:cNvSpPr txBox="1"/>
          <p:nvPr/>
        </p:nvSpPr>
        <p:spPr>
          <a:xfrm>
            <a:off x="2613942" y="501904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72403008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EA6A4-23EB-6A08-3F86-0A8463158D4B}"/>
              </a:ext>
            </a:extLst>
          </p:cNvPr>
          <p:cNvSpPr txBox="1"/>
          <p:nvPr/>
        </p:nvSpPr>
        <p:spPr>
          <a:xfrm>
            <a:off x="8017502" y="501903"/>
            <a:ext cx="2072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724030010</a:t>
            </a:r>
          </a:p>
        </p:txBody>
      </p:sp>
    </p:spTree>
    <p:extLst>
      <p:ext uri="{BB962C8B-B14F-4D97-AF65-F5344CB8AC3E}">
        <p14:creationId xmlns:p14="http://schemas.microsoft.com/office/powerpoint/2010/main" val="788743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lage of graphs&#10;&#10;Description automatically generated">
            <a:extLst>
              <a:ext uri="{FF2B5EF4-FFF2-40B4-BE49-F238E27FC236}">
                <a16:creationId xmlns:a16="http://schemas.microsoft.com/office/drawing/2014/main" id="{9823C792-2A37-1025-86F5-43579C64E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6571"/>
            <a:ext cx="6400000" cy="6171429"/>
          </a:xfrm>
          <a:prstGeom prst="rect">
            <a:avLst/>
          </a:prstGeom>
        </p:spPr>
      </p:pic>
      <p:pic>
        <p:nvPicPr>
          <p:cNvPr id="6" name="Picture 5" descr="A collage of graphs&#10;&#10;Description automatically generated">
            <a:extLst>
              <a:ext uri="{FF2B5EF4-FFF2-40B4-BE49-F238E27FC236}">
                <a16:creationId xmlns:a16="http://schemas.microsoft.com/office/drawing/2014/main" id="{A620BB37-3388-B919-D924-EB8E3FE18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000" y="686569"/>
            <a:ext cx="6400000" cy="6171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2CFEB9-EF6B-088D-742B-381CDE46DBD4}"/>
              </a:ext>
            </a:extLst>
          </p:cNvPr>
          <p:cNvSpPr txBox="1"/>
          <p:nvPr/>
        </p:nvSpPr>
        <p:spPr>
          <a:xfrm>
            <a:off x="2613942" y="501904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EA6A4-23EB-6A08-3F86-0A8463158D4B}"/>
              </a:ext>
            </a:extLst>
          </p:cNvPr>
          <p:cNvSpPr txBox="1"/>
          <p:nvPr/>
        </p:nvSpPr>
        <p:spPr>
          <a:xfrm>
            <a:off x="8017502" y="501903"/>
            <a:ext cx="2072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724030015</a:t>
            </a:r>
          </a:p>
        </p:txBody>
      </p:sp>
    </p:spTree>
    <p:extLst>
      <p:ext uri="{BB962C8B-B14F-4D97-AF65-F5344CB8AC3E}">
        <p14:creationId xmlns:p14="http://schemas.microsoft.com/office/powerpoint/2010/main" val="259509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lage of graphs&#10;&#10;Description automatically generated">
            <a:extLst>
              <a:ext uri="{FF2B5EF4-FFF2-40B4-BE49-F238E27FC236}">
                <a16:creationId xmlns:a16="http://schemas.microsoft.com/office/drawing/2014/main" id="{E04F125E-7D9F-5FA3-A5A4-84717460A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6571"/>
            <a:ext cx="6400000" cy="6171429"/>
          </a:xfrm>
          <a:prstGeom prst="rect">
            <a:avLst/>
          </a:prstGeom>
        </p:spPr>
      </p:pic>
      <p:pic>
        <p:nvPicPr>
          <p:cNvPr id="7" name="Picture 6" descr="A graph of a voltage&#10;&#10;Description automatically generated with medium confidence">
            <a:extLst>
              <a:ext uri="{FF2B5EF4-FFF2-40B4-BE49-F238E27FC236}">
                <a16:creationId xmlns:a16="http://schemas.microsoft.com/office/drawing/2014/main" id="{CB9A6EFD-A0E1-40C2-B820-86125E729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000" y="686571"/>
            <a:ext cx="6400000" cy="6171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2CFEB9-EF6B-088D-742B-381CDE46DBD4}"/>
              </a:ext>
            </a:extLst>
          </p:cNvPr>
          <p:cNvSpPr txBox="1"/>
          <p:nvPr/>
        </p:nvSpPr>
        <p:spPr>
          <a:xfrm>
            <a:off x="2613942" y="501904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72403017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EA6A4-23EB-6A08-3F86-0A8463158D4B}"/>
              </a:ext>
            </a:extLst>
          </p:cNvPr>
          <p:cNvSpPr txBox="1"/>
          <p:nvPr/>
        </p:nvSpPr>
        <p:spPr>
          <a:xfrm>
            <a:off x="8017502" y="501903"/>
            <a:ext cx="2072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724030018</a:t>
            </a:r>
          </a:p>
        </p:txBody>
      </p:sp>
    </p:spTree>
    <p:extLst>
      <p:ext uri="{BB962C8B-B14F-4D97-AF65-F5344CB8AC3E}">
        <p14:creationId xmlns:p14="http://schemas.microsoft.com/office/powerpoint/2010/main" val="4122809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lage of graphs&#10;&#10;Description automatically generated">
            <a:extLst>
              <a:ext uri="{FF2B5EF4-FFF2-40B4-BE49-F238E27FC236}">
                <a16:creationId xmlns:a16="http://schemas.microsoft.com/office/drawing/2014/main" id="{285CCDA5-0BB4-5DCD-E7DC-471E2F268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6569"/>
            <a:ext cx="6400000" cy="6171429"/>
          </a:xfrm>
          <a:prstGeom prst="rect">
            <a:avLst/>
          </a:prstGeom>
        </p:spPr>
      </p:pic>
      <p:pic>
        <p:nvPicPr>
          <p:cNvPr id="11" name="Picture 10" descr="A graph of a graph of a voltage&#10;&#10;Description automatically generated with medium confidence">
            <a:extLst>
              <a:ext uri="{FF2B5EF4-FFF2-40B4-BE49-F238E27FC236}">
                <a16:creationId xmlns:a16="http://schemas.microsoft.com/office/drawing/2014/main" id="{90509D1E-7331-E6E4-1139-A26E7E5258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000" y="686571"/>
            <a:ext cx="6400000" cy="6171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2CFEB9-EF6B-088D-742B-381CDE46DBD4}"/>
              </a:ext>
            </a:extLst>
          </p:cNvPr>
          <p:cNvSpPr txBox="1"/>
          <p:nvPr/>
        </p:nvSpPr>
        <p:spPr>
          <a:xfrm>
            <a:off x="2613942" y="501904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72403019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EA6A4-23EB-6A08-3F86-0A8463158D4B}"/>
              </a:ext>
            </a:extLst>
          </p:cNvPr>
          <p:cNvSpPr txBox="1"/>
          <p:nvPr/>
        </p:nvSpPr>
        <p:spPr>
          <a:xfrm>
            <a:off x="8017502" y="501903"/>
            <a:ext cx="2072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724030020</a:t>
            </a:r>
          </a:p>
        </p:txBody>
      </p:sp>
    </p:spTree>
    <p:extLst>
      <p:ext uri="{BB962C8B-B14F-4D97-AF65-F5344CB8AC3E}">
        <p14:creationId xmlns:p14="http://schemas.microsoft.com/office/powerpoint/2010/main" val="871484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voltage&#10;&#10;Description automatically generated with medium confidence">
            <a:extLst>
              <a:ext uri="{FF2B5EF4-FFF2-40B4-BE49-F238E27FC236}">
                <a16:creationId xmlns:a16="http://schemas.microsoft.com/office/drawing/2014/main" id="{27BB381F-75F2-1329-E2EC-491616C24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6569"/>
            <a:ext cx="6400000" cy="6171429"/>
          </a:xfrm>
          <a:prstGeom prst="rect">
            <a:avLst/>
          </a:prstGeom>
        </p:spPr>
      </p:pic>
      <p:pic>
        <p:nvPicPr>
          <p:cNvPr id="7" name="Picture 6" descr="A collage of graphs&#10;&#10;Description automatically generated">
            <a:extLst>
              <a:ext uri="{FF2B5EF4-FFF2-40B4-BE49-F238E27FC236}">
                <a16:creationId xmlns:a16="http://schemas.microsoft.com/office/drawing/2014/main" id="{3C29583C-2EA2-3A6F-7645-51B0ED9FD3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000" y="686571"/>
            <a:ext cx="6400000" cy="6171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2CFEB9-EF6B-088D-742B-381CDE46DBD4}"/>
              </a:ext>
            </a:extLst>
          </p:cNvPr>
          <p:cNvSpPr txBox="1"/>
          <p:nvPr/>
        </p:nvSpPr>
        <p:spPr>
          <a:xfrm>
            <a:off x="2613942" y="501904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EA6A4-23EB-6A08-3F86-0A8463158D4B}"/>
              </a:ext>
            </a:extLst>
          </p:cNvPr>
          <p:cNvSpPr txBox="1"/>
          <p:nvPr/>
        </p:nvSpPr>
        <p:spPr>
          <a:xfrm>
            <a:off x="8017502" y="501903"/>
            <a:ext cx="2072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724030022</a:t>
            </a:r>
          </a:p>
        </p:txBody>
      </p:sp>
    </p:spTree>
    <p:extLst>
      <p:ext uri="{BB962C8B-B14F-4D97-AF65-F5344CB8AC3E}">
        <p14:creationId xmlns:p14="http://schemas.microsoft.com/office/powerpoint/2010/main" val="1430103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 of a voltage&#10;&#10;Description automatically generated with medium confidence">
            <a:extLst>
              <a:ext uri="{FF2B5EF4-FFF2-40B4-BE49-F238E27FC236}">
                <a16:creationId xmlns:a16="http://schemas.microsoft.com/office/drawing/2014/main" id="{5B38C2E8-D478-4DC5-62B1-C08D3C481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6569"/>
            <a:ext cx="6400000" cy="6171429"/>
          </a:xfrm>
          <a:prstGeom prst="rect">
            <a:avLst/>
          </a:prstGeom>
        </p:spPr>
      </p:pic>
      <p:pic>
        <p:nvPicPr>
          <p:cNvPr id="6" name="Picture 5" descr="A graph of a graph of a curve&#10;&#10;Description automatically generated with medium confidence">
            <a:extLst>
              <a:ext uri="{FF2B5EF4-FFF2-40B4-BE49-F238E27FC236}">
                <a16:creationId xmlns:a16="http://schemas.microsoft.com/office/drawing/2014/main" id="{3837F215-B7F4-1FFA-617F-B6021DF54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000" y="686571"/>
            <a:ext cx="6400000" cy="6171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2CFEB9-EF6B-088D-742B-381CDE46DBD4}"/>
              </a:ext>
            </a:extLst>
          </p:cNvPr>
          <p:cNvSpPr txBox="1"/>
          <p:nvPr/>
        </p:nvSpPr>
        <p:spPr>
          <a:xfrm>
            <a:off x="2613942" y="501904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EA6A4-23EB-6A08-3F86-0A8463158D4B}"/>
              </a:ext>
            </a:extLst>
          </p:cNvPr>
          <p:cNvSpPr txBox="1"/>
          <p:nvPr/>
        </p:nvSpPr>
        <p:spPr>
          <a:xfrm>
            <a:off x="8017502" y="501903"/>
            <a:ext cx="2072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724030024</a:t>
            </a:r>
          </a:p>
        </p:txBody>
      </p:sp>
    </p:spTree>
    <p:extLst>
      <p:ext uri="{BB962C8B-B14F-4D97-AF65-F5344CB8AC3E}">
        <p14:creationId xmlns:p14="http://schemas.microsoft.com/office/powerpoint/2010/main" val="2391777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lage of graphs&#10;&#10;Description automatically generated">
            <a:extLst>
              <a:ext uri="{FF2B5EF4-FFF2-40B4-BE49-F238E27FC236}">
                <a16:creationId xmlns:a16="http://schemas.microsoft.com/office/drawing/2014/main" id="{EC7CA631-DC42-F9F1-A788-0451BB0EB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6569"/>
            <a:ext cx="6400000" cy="6171429"/>
          </a:xfrm>
          <a:prstGeom prst="rect">
            <a:avLst/>
          </a:prstGeom>
        </p:spPr>
      </p:pic>
      <p:pic>
        <p:nvPicPr>
          <p:cNvPr id="7" name="Picture 6" descr="A collage of graphs&#10;&#10;Description automatically generated">
            <a:extLst>
              <a:ext uri="{FF2B5EF4-FFF2-40B4-BE49-F238E27FC236}">
                <a16:creationId xmlns:a16="http://schemas.microsoft.com/office/drawing/2014/main" id="{801E820F-1C51-FB42-599D-0C3F31ADB0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000" y="686568"/>
            <a:ext cx="6400000" cy="6171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2CFEB9-EF6B-088D-742B-381CDE46DBD4}"/>
              </a:ext>
            </a:extLst>
          </p:cNvPr>
          <p:cNvSpPr txBox="1"/>
          <p:nvPr/>
        </p:nvSpPr>
        <p:spPr>
          <a:xfrm>
            <a:off x="2613942" y="501904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EA6A4-23EB-6A08-3F86-0A8463158D4B}"/>
              </a:ext>
            </a:extLst>
          </p:cNvPr>
          <p:cNvSpPr txBox="1"/>
          <p:nvPr/>
        </p:nvSpPr>
        <p:spPr>
          <a:xfrm>
            <a:off x="8017502" y="501903"/>
            <a:ext cx="2072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724030026</a:t>
            </a:r>
          </a:p>
        </p:txBody>
      </p:sp>
    </p:spTree>
    <p:extLst>
      <p:ext uri="{BB962C8B-B14F-4D97-AF65-F5344CB8AC3E}">
        <p14:creationId xmlns:p14="http://schemas.microsoft.com/office/powerpoint/2010/main" val="4059710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lage of graphs&#10;&#10;Description automatically generated">
            <a:extLst>
              <a:ext uri="{FF2B5EF4-FFF2-40B4-BE49-F238E27FC236}">
                <a16:creationId xmlns:a16="http://schemas.microsoft.com/office/drawing/2014/main" id="{827DC2D6-1970-8D5B-DCC6-1A67DD936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6571"/>
            <a:ext cx="6400000" cy="6171429"/>
          </a:xfrm>
          <a:prstGeom prst="rect">
            <a:avLst/>
          </a:prstGeom>
        </p:spPr>
      </p:pic>
      <p:pic>
        <p:nvPicPr>
          <p:cNvPr id="5" name="Picture 4" descr="A collage of graphs&#10;&#10;Description automatically generated">
            <a:extLst>
              <a:ext uri="{FF2B5EF4-FFF2-40B4-BE49-F238E27FC236}">
                <a16:creationId xmlns:a16="http://schemas.microsoft.com/office/drawing/2014/main" id="{BC92A381-0E8B-B29A-C92A-238C9EED2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000" y="676563"/>
            <a:ext cx="6400000" cy="6171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2CFEB9-EF6B-088D-742B-381CDE46DBD4}"/>
              </a:ext>
            </a:extLst>
          </p:cNvPr>
          <p:cNvSpPr txBox="1"/>
          <p:nvPr/>
        </p:nvSpPr>
        <p:spPr>
          <a:xfrm>
            <a:off x="2613942" y="501904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72403027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EA6A4-23EB-6A08-3F86-0A8463158D4B}"/>
              </a:ext>
            </a:extLst>
          </p:cNvPr>
          <p:cNvSpPr txBox="1"/>
          <p:nvPr/>
        </p:nvSpPr>
        <p:spPr>
          <a:xfrm>
            <a:off x="8017502" y="501903"/>
            <a:ext cx="2072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724030028</a:t>
            </a:r>
          </a:p>
        </p:txBody>
      </p:sp>
    </p:spTree>
    <p:extLst>
      <p:ext uri="{BB962C8B-B14F-4D97-AF65-F5344CB8AC3E}">
        <p14:creationId xmlns:p14="http://schemas.microsoft.com/office/powerpoint/2010/main" val="1452835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voltage&#10;&#10;Description automatically generated with medium confidence">
            <a:extLst>
              <a:ext uri="{FF2B5EF4-FFF2-40B4-BE49-F238E27FC236}">
                <a16:creationId xmlns:a16="http://schemas.microsoft.com/office/drawing/2014/main" id="{686DCE85-9CAA-DA74-4AA4-40BF1979B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6569"/>
            <a:ext cx="6400000" cy="6171429"/>
          </a:xfrm>
          <a:prstGeom prst="rect">
            <a:avLst/>
          </a:prstGeom>
        </p:spPr>
      </p:pic>
      <p:pic>
        <p:nvPicPr>
          <p:cNvPr id="5" name="Picture 4" descr="A collage of graphs&#10;&#10;Description automatically generated">
            <a:extLst>
              <a:ext uri="{FF2B5EF4-FFF2-40B4-BE49-F238E27FC236}">
                <a16:creationId xmlns:a16="http://schemas.microsoft.com/office/drawing/2014/main" id="{4707C219-4F5E-A0FF-4224-69D24F6E32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999" y="686568"/>
            <a:ext cx="6400000" cy="6171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2CFEB9-EF6B-088D-742B-381CDE46DBD4}"/>
              </a:ext>
            </a:extLst>
          </p:cNvPr>
          <p:cNvSpPr txBox="1"/>
          <p:nvPr/>
        </p:nvSpPr>
        <p:spPr>
          <a:xfrm>
            <a:off x="2613942" y="501904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72403029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EA6A4-23EB-6A08-3F86-0A8463158D4B}"/>
              </a:ext>
            </a:extLst>
          </p:cNvPr>
          <p:cNvSpPr txBox="1"/>
          <p:nvPr/>
        </p:nvSpPr>
        <p:spPr>
          <a:xfrm>
            <a:off x="8017502" y="501903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72403030</a:t>
            </a:r>
          </a:p>
        </p:txBody>
      </p:sp>
    </p:spTree>
    <p:extLst>
      <p:ext uri="{BB962C8B-B14F-4D97-AF65-F5344CB8AC3E}">
        <p14:creationId xmlns:p14="http://schemas.microsoft.com/office/powerpoint/2010/main" val="4201084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9C7565C0-DBE9-4E18-1097-8086348FD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" y="686569"/>
            <a:ext cx="6400000" cy="6171429"/>
          </a:xfrm>
          <a:prstGeom prst="rect">
            <a:avLst/>
          </a:prstGeom>
        </p:spPr>
      </p:pic>
      <p:pic>
        <p:nvPicPr>
          <p:cNvPr id="11" name="Picture 10" descr="A graph of a voltage&#10;&#10;Description automatically generated with medium confidence">
            <a:extLst>
              <a:ext uri="{FF2B5EF4-FFF2-40B4-BE49-F238E27FC236}">
                <a16:creationId xmlns:a16="http://schemas.microsoft.com/office/drawing/2014/main" id="{4D7C0CC4-469C-2BD8-65C9-042CFCD60C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0001" y="686571"/>
            <a:ext cx="6400000" cy="6171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2CFEB9-EF6B-088D-742B-381CDE46DBD4}"/>
              </a:ext>
            </a:extLst>
          </p:cNvPr>
          <p:cNvSpPr txBox="1"/>
          <p:nvPr/>
        </p:nvSpPr>
        <p:spPr>
          <a:xfrm>
            <a:off x="2613942" y="501904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EA6A4-23EB-6A08-3F86-0A8463158D4B}"/>
              </a:ext>
            </a:extLst>
          </p:cNvPr>
          <p:cNvSpPr txBox="1"/>
          <p:nvPr/>
        </p:nvSpPr>
        <p:spPr>
          <a:xfrm>
            <a:off x="8017502" y="501903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72403032</a:t>
            </a:r>
          </a:p>
        </p:txBody>
      </p:sp>
    </p:spTree>
    <p:extLst>
      <p:ext uri="{BB962C8B-B14F-4D97-AF65-F5344CB8AC3E}">
        <p14:creationId xmlns:p14="http://schemas.microsoft.com/office/powerpoint/2010/main" val="79412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voltage&#10;&#10;Description automatically generated with medium confidence">
            <a:extLst>
              <a:ext uri="{FF2B5EF4-FFF2-40B4-BE49-F238E27FC236}">
                <a16:creationId xmlns:a16="http://schemas.microsoft.com/office/drawing/2014/main" id="{068EAEB1-4D41-AF83-219C-7996DA245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6571"/>
            <a:ext cx="6400000" cy="6171429"/>
          </a:xfrm>
          <a:prstGeom prst="rect">
            <a:avLst/>
          </a:prstGeom>
        </p:spPr>
      </p:pic>
      <p:pic>
        <p:nvPicPr>
          <p:cNvPr id="3" name="Picture 2" descr="A graph of a voltage&#10;&#10;Description automatically generated with medium confidence">
            <a:extLst>
              <a:ext uri="{FF2B5EF4-FFF2-40B4-BE49-F238E27FC236}">
                <a16:creationId xmlns:a16="http://schemas.microsoft.com/office/drawing/2014/main" id="{B529F8D5-B77B-BEED-0E5B-5B603DF9B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000" y="686571"/>
            <a:ext cx="6400000" cy="6171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2CFEB9-EF6B-088D-742B-381CDE46DBD4}"/>
              </a:ext>
            </a:extLst>
          </p:cNvPr>
          <p:cNvSpPr txBox="1"/>
          <p:nvPr/>
        </p:nvSpPr>
        <p:spPr>
          <a:xfrm>
            <a:off x="2613942" y="501904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72403033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EA6A4-23EB-6A08-3F86-0A8463158D4B}"/>
              </a:ext>
            </a:extLst>
          </p:cNvPr>
          <p:cNvSpPr txBox="1"/>
          <p:nvPr/>
        </p:nvSpPr>
        <p:spPr>
          <a:xfrm>
            <a:off x="8017502" y="501903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72403034</a:t>
            </a:r>
          </a:p>
        </p:txBody>
      </p:sp>
    </p:spTree>
    <p:extLst>
      <p:ext uri="{BB962C8B-B14F-4D97-AF65-F5344CB8AC3E}">
        <p14:creationId xmlns:p14="http://schemas.microsoft.com/office/powerpoint/2010/main" val="3342621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voltage&#10;&#10;Description automatically generated with medium confidence">
            <a:extLst>
              <a:ext uri="{FF2B5EF4-FFF2-40B4-BE49-F238E27FC236}">
                <a16:creationId xmlns:a16="http://schemas.microsoft.com/office/drawing/2014/main" id="{FC6C8CB2-DDBC-E491-4389-602172DD0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6571"/>
            <a:ext cx="6400000" cy="6171429"/>
          </a:xfrm>
          <a:prstGeom prst="rect">
            <a:avLst/>
          </a:prstGeom>
        </p:spPr>
      </p:pic>
      <p:pic>
        <p:nvPicPr>
          <p:cNvPr id="5" name="Picture 4" descr="A graph of a voltage&#10;&#10;Description automatically generated with medium confidence">
            <a:extLst>
              <a:ext uri="{FF2B5EF4-FFF2-40B4-BE49-F238E27FC236}">
                <a16:creationId xmlns:a16="http://schemas.microsoft.com/office/drawing/2014/main" id="{0E6F5FF1-5FFC-4648-C596-E9DB21BFEF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942" y="686571"/>
            <a:ext cx="6400000" cy="6171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2CFEB9-EF6B-088D-742B-381CDE46DBD4}"/>
              </a:ext>
            </a:extLst>
          </p:cNvPr>
          <p:cNvSpPr txBox="1"/>
          <p:nvPr/>
        </p:nvSpPr>
        <p:spPr>
          <a:xfrm>
            <a:off x="2613942" y="501904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EA6A4-23EB-6A08-3F86-0A8463158D4B}"/>
              </a:ext>
            </a:extLst>
          </p:cNvPr>
          <p:cNvSpPr txBox="1"/>
          <p:nvPr/>
        </p:nvSpPr>
        <p:spPr>
          <a:xfrm>
            <a:off x="8017502" y="501903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72403036</a:t>
            </a:r>
          </a:p>
        </p:txBody>
      </p:sp>
    </p:spTree>
    <p:extLst>
      <p:ext uri="{BB962C8B-B14F-4D97-AF65-F5344CB8AC3E}">
        <p14:creationId xmlns:p14="http://schemas.microsoft.com/office/powerpoint/2010/main" val="176462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voltage&#10;&#10;Description automatically generated with medium confidence">
            <a:extLst>
              <a:ext uri="{FF2B5EF4-FFF2-40B4-BE49-F238E27FC236}">
                <a16:creationId xmlns:a16="http://schemas.microsoft.com/office/drawing/2014/main" id="{FC6C8CB2-DDBC-E491-4389-602172DD0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6571"/>
            <a:ext cx="6400000" cy="6171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2CFEB9-EF6B-088D-742B-381CDE46DBD4}"/>
              </a:ext>
            </a:extLst>
          </p:cNvPr>
          <p:cNvSpPr txBox="1"/>
          <p:nvPr/>
        </p:nvSpPr>
        <p:spPr>
          <a:xfrm>
            <a:off x="2613942" y="501904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72403035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51BBE3-7AE1-2798-1737-17BBD1A0C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000" y="1863437"/>
            <a:ext cx="5434486" cy="245918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530088C-C07E-DE64-7C08-27112DC91DBB}"/>
              </a:ext>
            </a:extLst>
          </p:cNvPr>
          <p:cNvCxnSpPr/>
          <p:nvPr/>
        </p:nvCxnSpPr>
        <p:spPr>
          <a:xfrm>
            <a:off x="2798618" y="1524000"/>
            <a:ext cx="6276109" cy="1413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321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graphs with red lines&#10;&#10;Description automatically generated with medium confidence">
            <a:extLst>
              <a:ext uri="{FF2B5EF4-FFF2-40B4-BE49-F238E27FC236}">
                <a16:creationId xmlns:a16="http://schemas.microsoft.com/office/drawing/2014/main" id="{2F15B4B9-6447-1B94-15D6-F32BD6C43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6571"/>
            <a:ext cx="6400000" cy="6171429"/>
          </a:xfrm>
          <a:prstGeom prst="rect">
            <a:avLst/>
          </a:prstGeom>
        </p:spPr>
      </p:pic>
      <p:pic>
        <p:nvPicPr>
          <p:cNvPr id="5" name="Picture 4" descr="A group of graphs with red lines&#10;&#10;Description automatically generated with medium confidence">
            <a:extLst>
              <a:ext uri="{FF2B5EF4-FFF2-40B4-BE49-F238E27FC236}">
                <a16:creationId xmlns:a16="http://schemas.microsoft.com/office/drawing/2014/main" id="{6903CA6E-291D-5C20-FE58-1B3844824C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999" y="686571"/>
            <a:ext cx="6400000" cy="6171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2CFEB9-EF6B-088D-742B-381CDE46DBD4}"/>
              </a:ext>
            </a:extLst>
          </p:cNvPr>
          <p:cNvSpPr txBox="1"/>
          <p:nvPr/>
        </p:nvSpPr>
        <p:spPr>
          <a:xfrm>
            <a:off x="2613942" y="501904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72403037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EA6A4-23EB-6A08-3F86-0A8463158D4B}"/>
              </a:ext>
            </a:extLst>
          </p:cNvPr>
          <p:cNvSpPr txBox="1"/>
          <p:nvPr/>
        </p:nvSpPr>
        <p:spPr>
          <a:xfrm>
            <a:off x="8017502" y="501903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72403038</a:t>
            </a:r>
          </a:p>
        </p:txBody>
      </p:sp>
    </p:spTree>
    <p:extLst>
      <p:ext uri="{BB962C8B-B14F-4D97-AF65-F5344CB8AC3E}">
        <p14:creationId xmlns:p14="http://schemas.microsoft.com/office/powerpoint/2010/main" val="1859951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3D651F-7A71-52B3-806E-276E016FC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737" y="380575"/>
            <a:ext cx="6820852" cy="3048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DCE0B9-5739-BA29-9556-B41E90948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737" y="3540929"/>
            <a:ext cx="6782747" cy="30674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638789-21CE-F47A-E2B1-B649E8823337}"/>
              </a:ext>
            </a:extLst>
          </p:cNvPr>
          <p:cNvSpPr txBox="1"/>
          <p:nvPr/>
        </p:nvSpPr>
        <p:spPr>
          <a:xfrm>
            <a:off x="1059913" y="1693395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72403037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A20D17-502C-4053-724B-C9EF7BA794BE}"/>
              </a:ext>
            </a:extLst>
          </p:cNvPr>
          <p:cNvSpPr txBox="1"/>
          <p:nvPr/>
        </p:nvSpPr>
        <p:spPr>
          <a:xfrm>
            <a:off x="1098018" y="4705336"/>
            <a:ext cx="194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ID: 72403038</a:t>
            </a:r>
          </a:p>
        </p:txBody>
      </p:sp>
    </p:spTree>
    <p:extLst>
      <p:ext uri="{BB962C8B-B14F-4D97-AF65-F5344CB8AC3E}">
        <p14:creationId xmlns:p14="http://schemas.microsoft.com/office/powerpoint/2010/main" val="2159998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1C689-6F6E-EA73-35AC-22C18CF25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C710D-2161-4716-90AB-A519FC22B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may be some discrepancy in voltage measurement due to the ‘slow’ update in CAN bus. </a:t>
            </a:r>
          </a:p>
          <a:p>
            <a:r>
              <a:rPr lang="en-US" dirty="0"/>
              <a:t>Overall, current and active power measurement is very close </a:t>
            </a:r>
          </a:p>
          <a:p>
            <a:r>
              <a:rPr lang="en-US" dirty="0"/>
              <a:t>The difference in integrated power </a:t>
            </a:r>
            <a:r>
              <a:rPr lang="en-US"/>
              <a:t>is negligible.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371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3CB85-6627-F41B-2D65-E86F0D127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Hioki</a:t>
            </a:r>
            <a:r>
              <a:rPr lang="en-US" dirty="0"/>
              <a:t> vs CAN 2019 Nissan leaf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C3327-D212-3C55-A327-9B3BE58F0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056" y="1408373"/>
            <a:ext cx="10898080" cy="49657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Combine MCT 62007023 + 62007024 + 62007025 + 62007026 (Miriam)</a:t>
            </a:r>
          </a:p>
          <a:p>
            <a:r>
              <a:rPr lang="en-US" dirty="0"/>
              <a:t>CAN current measurement has the opposite sign of </a:t>
            </a:r>
            <a:r>
              <a:rPr lang="en-US" dirty="0" err="1"/>
              <a:t>Hioki</a:t>
            </a:r>
            <a:r>
              <a:rPr lang="en-US" dirty="0"/>
              <a:t>  current measurement</a:t>
            </a:r>
          </a:p>
          <a:p>
            <a:r>
              <a:rPr lang="en-US" dirty="0"/>
              <a:t>HEV _receive, BECM _receive, MCM _receive, </a:t>
            </a:r>
            <a:r>
              <a:rPr lang="en-US" dirty="0" err="1"/>
              <a:t>ABS_receive</a:t>
            </a:r>
            <a:r>
              <a:rPr lang="en-US" dirty="0"/>
              <a:t>, CCM _receive are all seems DIANOSTIC signals. So we use the CAN5 signals: </a:t>
            </a:r>
            <a:r>
              <a:rPr lang="en-US" sz="1800" b="0" i="0" dirty="0">
                <a:effectLst/>
                <a:latin typeface="Menlo"/>
              </a:rPr>
              <a:t>HVBatt_voltage_CAN5__V, HVBatt_current_wide_CAN5__A</a:t>
            </a:r>
          </a:p>
          <a:p>
            <a:r>
              <a:rPr lang="en-US" dirty="0" err="1"/>
              <a:t>Hioki</a:t>
            </a:r>
            <a:r>
              <a:rPr lang="en-US" dirty="0"/>
              <a:t> has 8 sets of measurement, u1 and u5,6,7,8 has the same scale as High voltage measurement, u3 ~ 250v (idk </a:t>
            </a:r>
            <a:r>
              <a:rPr lang="en-US" dirty="0" err="1"/>
              <a:t>whats</a:t>
            </a:r>
            <a:r>
              <a:rPr lang="en-US" dirty="0"/>
              <a:t> this). u2 and u4 are 12v batt.  I2 to I8 (current) values are low, only I1 is in the right scale as </a:t>
            </a:r>
            <a:r>
              <a:rPr lang="en-US" dirty="0" err="1"/>
              <a:t>Hvbatt</a:t>
            </a:r>
            <a:r>
              <a:rPr lang="en-US" dirty="0"/>
              <a:t> CAN5 current data, we will compare these two values then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796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lage of graphs&#10;&#10;Description automatically generated">
            <a:extLst>
              <a:ext uri="{FF2B5EF4-FFF2-40B4-BE49-F238E27FC236}">
                <a16:creationId xmlns:a16="http://schemas.microsoft.com/office/drawing/2014/main" id="{1D89433B-9B73-004B-BA4A-3F6BB19EEE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3" t="3116" r="5566" b="2949"/>
          <a:stretch/>
        </p:blipFill>
        <p:spPr>
          <a:xfrm>
            <a:off x="133164" y="734626"/>
            <a:ext cx="5850385" cy="57971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443229-E4F0-D86A-0953-C999DF45F2BE}"/>
              </a:ext>
            </a:extLst>
          </p:cNvPr>
          <p:cNvSpPr txBox="1"/>
          <p:nvPr/>
        </p:nvSpPr>
        <p:spPr>
          <a:xfrm>
            <a:off x="2461334" y="365294"/>
            <a:ext cx="2323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62007023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574638-672F-5551-D9D5-110C3D77D0AB}"/>
              </a:ext>
            </a:extLst>
          </p:cNvPr>
          <p:cNvSpPr txBox="1"/>
          <p:nvPr/>
        </p:nvSpPr>
        <p:spPr>
          <a:xfrm>
            <a:off x="8568801" y="365294"/>
            <a:ext cx="2323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62007024 </a:t>
            </a:r>
          </a:p>
        </p:txBody>
      </p:sp>
      <p:pic>
        <p:nvPicPr>
          <p:cNvPr id="8" name="Picture 7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03706B8F-45B0-74EC-6250-D0967B0171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1" t="3069" r="5426"/>
          <a:stretch/>
        </p:blipFill>
        <p:spPr>
          <a:xfrm>
            <a:off x="5983549" y="734626"/>
            <a:ext cx="5850385" cy="598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888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phs with numbers&#10;&#10;Description automatically generated with medium confidence">
            <a:extLst>
              <a:ext uri="{FF2B5EF4-FFF2-40B4-BE49-F238E27FC236}">
                <a16:creationId xmlns:a16="http://schemas.microsoft.com/office/drawing/2014/main" id="{3AA037B9-81E2-4B19-A344-B8AFAC7C7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6" y="686571"/>
            <a:ext cx="6400000" cy="61714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D29C95-6D10-4528-C4DD-FC949B8C1C33}"/>
              </a:ext>
            </a:extLst>
          </p:cNvPr>
          <p:cNvSpPr txBox="1"/>
          <p:nvPr/>
        </p:nvSpPr>
        <p:spPr>
          <a:xfrm>
            <a:off x="2461334" y="365294"/>
            <a:ext cx="2323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62007025 </a:t>
            </a:r>
          </a:p>
        </p:txBody>
      </p:sp>
      <p:pic>
        <p:nvPicPr>
          <p:cNvPr id="8" name="Picture 7" descr="A group of graphs with red lines&#10;&#10;Description automatically generated with medium confidence">
            <a:extLst>
              <a:ext uri="{FF2B5EF4-FFF2-40B4-BE49-F238E27FC236}">
                <a16:creationId xmlns:a16="http://schemas.microsoft.com/office/drawing/2014/main" id="{D9823FDF-1B4A-573A-6DEA-1933E84C12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4" r="4687"/>
          <a:stretch/>
        </p:blipFill>
        <p:spPr>
          <a:xfrm>
            <a:off x="6096000" y="686571"/>
            <a:ext cx="5782323" cy="61714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02A366-C222-EAB4-90DA-EB1891A9B907}"/>
              </a:ext>
            </a:extLst>
          </p:cNvPr>
          <p:cNvSpPr txBox="1"/>
          <p:nvPr/>
        </p:nvSpPr>
        <p:spPr>
          <a:xfrm>
            <a:off x="8206666" y="365294"/>
            <a:ext cx="2323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62007026 </a:t>
            </a:r>
          </a:p>
        </p:txBody>
      </p:sp>
    </p:spTree>
    <p:extLst>
      <p:ext uri="{BB962C8B-B14F-4D97-AF65-F5344CB8AC3E}">
        <p14:creationId xmlns:p14="http://schemas.microsoft.com/office/powerpoint/2010/main" val="418288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6C67D7-1DD9-A6A4-7AA3-A48CA5AC9601}"/>
              </a:ext>
            </a:extLst>
          </p:cNvPr>
          <p:cNvSpPr txBox="1"/>
          <p:nvPr/>
        </p:nvSpPr>
        <p:spPr>
          <a:xfrm>
            <a:off x="195307" y="90087"/>
            <a:ext cx="105999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Linear correlation was performed by removing some obvious outliers. Take 62007026 as example. There is a huge disagreement between CAN and </a:t>
            </a:r>
            <a:r>
              <a:rPr lang="en-US" dirty="0" err="1"/>
              <a:t>Hioki</a:t>
            </a:r>
            <a:r>
              <a:rPr lang="en-US" dirty="0"/>
              <a:t> measurement when vehicle reduces speed to zero (See below)</a:t>
            </a:r>
          </a:p>
        </p:txBody>
      </p:sp>
      <p:pic>
        <p:nvPicPr>
          <p:cNvPr id="4" name="Picture 3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F0C19364-E42D-EC68-5A43-C0CD5BDD54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1"/>
          <a:stretch/>
        </p:blipFill>
        <p:spPr>
          <a:xfrm>
            <a:off x="825621" y="941032"/>
            <a:ext cx="9197267" cy="581698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916B8053-2BD9-FEAF-FBAA-E6967173A84B}"/>
              </a:ext>
            </a:extLst>
          </p:cNvPr>
          <p:cNvSpPr/>
          <p:nvPr/>
        </p:nvSpPr>
        <p:spPr>
          <a:xfrm>
            <a:off x="7670306" y="941032"/>
            <a:ext cx="674703" cy="5690587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7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7D05C7-2B8A-02E9-57A4-89411B1481A3}"/>
              </a:ext>
            </a:extLst>
          </p:cNvPr>
          <p:cNvSpPr txBox="1"/>
          <p:nvPr/>
        </p:nvSpPr>
        <p:spPr>
          <a:xfrm>
            <a:off x="195307" y="90087"/>
            <a:ext cx="105999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Also take 62007026 as example. What’s the correlation between measurement difference and vehicle speed?</a:t>
            </a:r>
          </a:p>
        </p:txBody>
      </p:sp>
      <p:pic>
        <p:nvPicPr>
          <p:cNvPr id="6" name="Picture 5" descr="A graph of data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5EFBAFBF-00C8-61B4-50ED-9D2649CB7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86" y="1371857"/>
            <a:ext cx="10971428" cy="4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550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417</Words>
  <Application>Microsoft Office PowerPoint</Application>
  <PresentationFormat>Widescreen</PresentationFormat>
  <Paragraphs>59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Menlo</vt:lpstr>
      <vt:lpstr>Office Theme</vt:lpstr>
      <vt:lpstr>Hioki vs CAN for 2017 prius prime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Hioki vs CAN 2019 Nissan leaf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Hioki vs CAN for 2017 prius prime</dc:title>
  <dc:creator>Zhan, Lu</dc:creator>
  <cp:lastModifiedBy>Zhan, Lu</cp:lastModifiedBy>
  <cp:revision>6</cp:revision>
  <dcterms:created xsi:type="dcterms:W3CDTF">2024-05-24T19:36:53Z</dcterms:created>
  <dcterms:modified xsi:type="dcterms:W3CDTF">2024-07-09T19:04:25Z</dcterms:modified>
</cp:coreProperties>
</file>